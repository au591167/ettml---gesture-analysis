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20"/>
    <p:sldId id="261" r:id="rId7"/>
    <p:sldId id="262" r:id="rId8"/>
    <p:sldId id="263" r:id="rId9"/>
    <p:sldId id="264" r:id="rId10"/>
    <p:sldId id="271" r:id="rId21"/>
    <p:sldId id="265" r:id="rId11"/>
    <p:sldId id="266" r:id="rId12"/>
    <p:sldId id="272" r:id="rId22"/>
    <p:sldId id="267" r:id="rId13"/>
    <p:sldId id="273" r:id="rId23"/>
    <p:sldId id="268" r:id="rId14"/>
    <p:sldId id="269" r:id="rId19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370583-1BAB-7EC7-BA40-C419D3F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E715905-EBE0-73DE-2CEB-3FECA1CC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E98D8A0-5ABF-C8F1-08E9-70479C3A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BFD0797-91C8-7F3B-934A-7D309BB3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88560E8-96AC-B9FA-015B-B5017DBCD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073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290524-5CC8-C937-3602-FE6B793A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56285D8-08B2-DD18-E26F-F90F89502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4295AA3-533D-9739-8F64-0289D159A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03C34F7-BEDE-D373-4EF0-54A730D7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B3005E7-B78D-645C-B95B-ABA3FE1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9333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C2B502-C289-C643-D2D5-764E0D9D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DB211B0-E8CB-B855-A7BB-DB8C5EC10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8E4565-CDC5-31DC-2B74-6398C647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D6816D7-A17B-78E4-A3FF-0A76C8E42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17A10F0-94DB-27BF-456C-7F5E8C13D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9190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9E7ED2-5C5B-B6A2-0B09-043F31ADC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EB4886-6CD9-7309-34F7-5F4610631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A6C72CD5-66C1-D678-00A6-59E1D5E1AA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D140A39-EBD7-BD1A-1E75-073D50C9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B387E93-DE39-AD45-6C60-108D90F50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B9123F7-E9F0-D2E4-EF13-9E431FB7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8019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6103A-CA25-5293-482B-F5AF13CCD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25983F2F-39D3-DDE3-6A40-086BDE677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469A8F42-691D-10EC-0A43-C1ED8DF6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DE849A1E-D9E9-787B-F8E7-F464BE14C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EFC90DCD-0B20-8B13-EFA4-DDE4EC3F5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A5C814AE-B5D8-9C4B-0F10-84F4A8FB6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4F0E7AB9-00EA-A771-7402-CABE7645F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4E420519-4966-27B2-12D4-EC60265D3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926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F895E8-BDB4-0C9E-D9E2-0152B53F3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F067916-37CD-4118-7E31-3283FC58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D7CA0635-BAE1-6CE5-EB46-4495DAD7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998DF62-4552-EBE8-BA77-4E91437D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1683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2D2AD7FD-71F4-2DCD-DC96-2719A708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7F3451F7-7E68-C831-0F23-952A9F2DE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AE2EC59-52BD-EE2A-A1CD-5090C0C8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670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A03C99-7BED-E4F0-587F-DFD05AAF1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1EBFDF7-6036-E964-5550-1279F18A4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CE7713E6-DE4B-4DC8-B653-EAFBBF033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036E039-0647-5AB2-CA1F-5500A94CD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9B607A4-F363-F998-CAF0-70CD38C96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7BBC4576-8634-C60B-3002-38F1DD21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3490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1A51EE-3443-5B5D-A307-9F9C2801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6F7A609F-CBE5-79BA-58AF-DE086E5F0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06F37F4F-CAF9-EED6-4963-39E916D7A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D65B475-9952-F03A-1CDB-44A6D4E3D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5230A34-2283-BC29-FE9D-38A0A7BBD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9DEF61D-A2BF-01DF-873E-359D7FFF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9561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0E3D30-B5C8-0B80-8D7E-E5328349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FE0193C-F4A1-D5B0-8E60-178EB0DB6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5E5A582-D0F1-D420-5B5D-91D66A1CB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5823796-D15A-4628-1BE5-8B925CFB1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64446D8-F079-9891-3FB3-65534F42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9951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ECA5449-0557-CAA1-00B6-841B8AB1C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00952F36-EBA4-4F37-B794-C57351E55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9B79321-4AA8-F384-DB8F-BCE22A599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97033DF-F1BC-2794-54E8-4C0698B8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83A730A-A991-7864-016C-05EA6265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251106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E35CAFD3-9680-DC48-72DB-F92DD05A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DK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0D33825-800E-B31E-F978-3F75F68A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5DB3B5D-F5EC-2C79-BF55-30FB08DEB8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EA8D1F-D660-407F-B379-8A144A40EBD6}" type="datetimeFigureOut">
              <a:rPr lang="en-DK" smtClean="0"/>
              <a:t>16/08/2026</a:t>
            </a:fld>
            <a:endParaRPr lang="en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EC617CD-193C-BF57-3176-CEE692B84C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B3891A09-F418-AFC0-2E6D-3AE910F15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8A188-F235-4848-8E36-F5BD75C56B91}" type="slidenum">
              <a:rPr lang="en-DK" smtClean="0"/>
              <a:t>‹nr.›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516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97722"/>
            <a:ext cx="5925312" cy="446255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Tiny Machine</a:t>
            </a:r>
            <a:br/>
            <a:r>
              <a:t>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578608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93C5FD"/>
                </a:solidFill>
                <a:latin typeface="Aptos"/>
              </a:defRPr>
            </a:pPr>
            <a:r>
              <a:t>Gesture Recognition on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182112"/>
            <a:ext cx="5212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Particle Photon 2 + ADXL343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187952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Aptos"/>
              </a:defRPr>
            </a:pPr>
            <a:r>
              <a:t>Eksamenspræsentation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59028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Erik Kjær Klint  ·  201704536</a:t>
            </a:r>
          </a:p>
        </p:txBody>
      </p:sp>
    </p:spTree>
    <p:extLst>
      <p:ext uri="{BB962C8B-B14F-4D97-AF65-F5344CB8AC3E}">
        <p14:creationId xmlns:p14="http://schemas.microsoft.com/office/powerpoint/2010/main" val="2156341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En kronologisk rejse fra fysisk bevægelse til lokal handling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1993392" cy="2148840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3000" b="1">
                <a:solidFill>
                  <a:srgbClr val="091F3F"/>
                </a:solidFill>
                <a:latin typeface="Aptos Display"/>
              </a:defRPr>
            </a:pPr>
            <a:r>
              <a:t>01</a:t>
            </a:r>
          </a:p>
          <a:p>
            <a:pPr algn="ctr">
              <a:spcBef>
                <a:spcPts val="700"/>
              </a:spcBef>
              <a:defRPr sz="1600">
                <a:solidFill>
                  <a:srgbClr val="1F3049"/>
                </a:solidFill>
                <a:latin typeface="Aptos"/>
              </a:defRPr>
            </a:pPr>
            <a:r>
              <a:t>Projekt + demo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24328" y="2907792"/>
            <a:ext cx="292608" cy="228600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16936" y="2057400"/>
            <a:ext cx="1993392" cy="2148840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3000" b="1">
                <a:solidFill>
                  <a:srgbClr val="091F3F"/>
                </a:solidFill>
                <a:latin typeface="Aptos Display"/>
              </a:defRPr>
            </a:pPr>
            <a:r>
              <a:t>02</a:t>
            </a:r>
          </a:p>
          <a:p>
            <a:pPr algn="ctr">
              <a:spcBef>
                <a:spcPts val="700"/>
              </a:spcBef>
              <a:defRPr sz="1600">
                <a:solidFill>
                  <a:srgbClr val="1F3049"/>
                </a:solidFill>
                <a:latin typeface="Aptos"/>
              </a:defRPr>
            </a:pPr>
            <a:r>
              <a:t>Hardware + 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28616" y="2907792"/>
            <a:ext cx="292608" cy="228600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221224" y="2057400"/>
            <a:ext cx="1993392" cy="2148840"/>
          </a:xfrm>
          <a:prstGeom prst="roundRect">
            <a:avLst/>
          </a:prstGeom>
          <a:solidFill>
            <a:srgbClr val="FFF4D8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3000" b="1">
                <a:solidFill>
                  <a:srgbClr val="091F3F"/>
                </a:solidFill>
                <a:latin typeface="Aptos Display"/>
              </a:defRPr>
            </a:pPr>
            <a:r>
              <a:t>03</a:t>
            </a:r>
          </a:p>
          <a:p>
            <a:pPr algn="ctr">
              <a:spcBef>
                <a:spcPts val="700"/>
              </a:spcBef>
              <a:defRPr sz="1600">
                <a:solidFill>
                  <a:srgbClr val="1F3049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32904" y="2907792"/>
            <a:ext cx="292608" cy="228600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25512" y="2057400"/>
            <a:ext cx="1993392" cy="2148840"/>
          </a:xfrm>
          <a:prstGeom prst="roundRect">
            <a:avLst/>
          </a:prstGeom>
          <a:solidFill>
            <a:srgbClr val="EFE9FE"/>
          </a:solidFill>
          <a:ln w="215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3000" b="1">
                <a:solidFill>
                  <a:srgbClr val="091F3F"/>
                </a:solidFill>
                <a:latin typeface="Aptos Display"/>
              </a:defRPr>
            </a:pPr>
            <a:r>
              <a:t>04</a:t>
            </a:r>
          </a:p>
          <a:p>
            <a:pPr algn="ctr">
              <a:spcBef>
                <a:spcPts val="700"/>
              </a:spcBef>
              <a:defRPr sz="1600">
                <a:solidFill>
                  <a:srgbClr val="1F3049"/>
                </a:solidFill>
                <a:latin typeface="Aptos"/>
              </a:defRPr>
            </a:pPr>
            <a:r>
              <a:t>Model + deployment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537192" y="2907792"/>
            <a:ext cx="292608" cy="228600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2057400"/>
            <a:ext cx="1993392" cy="2148840"/>
          </a:xfrm>
          <a:prstGeom prst="roundRect">
            <a:avLst/>
          </a:prstGeom>
          <a:solidFill>
            <a:srgbClr val="FEE8E8"/>
          </a:solidFill>
          <a:ln w="215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3000" b="1">
                <a:solidFill>
                  <a:srgbClr val="091F3F"/>
                </a:solidFill>
                <a:latin typeface="Aptos Display"/>
              </a:defRPr>
            </a:pPr>
            <a:r>
              <a:t>05</a:t>
            </a:r>
          </a:p>
          <a:p>
            <a:pPr algn="ctr">
              <a:spcBef>
                <a:spcPts val="700"/>
              </a:spcBef>
              <a:defRPr sz="1600">
                <a:solidFill>
                  <a:srgbClr val="1F3049"/>
                </a:solidFill>
                <a:latin typeface="Aptos"/>
              </a:defRPr>
            </a:pPr>
            <a:r>
              <a:t>Resultater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91F3F"/>
                </a:solidFill>
                <a:latin typeface="Aptos"/>
              </a:defRPr>
            </a:pPr>
            <a:r>
              <a:t>PROBLEM  →  DATA  →  FEATURES  →  MODEL  →  RESULTAT</a:t>
            </a:r>
          </a:p>
        </p:txBody>
      </p:sp>
    </p:spTree>
    <p:extLst>
      <p:ext uri="{BB962C8B-B14F-4D97-AF65-F5344CB8AC3E}">
        <p14:creationId xmlns:p14="http://schemas.microsoft.com/office/powerpoint/2010/main" val="320357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esture-command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Formål  →  fem klasser  →  kommandoer</a:t>
            </a:r>
          </a:p>
        </p:txBody>
      </p:sp>
    </p:spTree>
    <p:extLst>
      <p:ext uri="{BB962C8B-B14F-4D97-AF65-F5344CB8AC3E}">
        <p14:creationId xmlns:p14="http://schemas.microsoft.com/office/powerpoint/2010/main" val="3999256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Fra fysisk gestus til lokal kommando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6235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471831"/>
            <a:ext cx="5330952" cy="40149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559552"/>
            <a:ext cx="5074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91F3F"/>
                </a:solidFill>
                <a:latin typeface="Aptos"/>
              </a:defRPr>
            </a:pPr>
            <a:r>
              <a:t>Photon 2 klassificerer lokalt — ingen cloud-inference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389888"/>
            <a:ext cx="4800600" cy="1170432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l">
              <a:defRPr sz="2000" b="1">
                <a:solidFill>
                  <a:srgbClr val="091F3F"/>
                </a:solidFill>
                <a:latin typeface="Aptos Display"/>
              </a:defRPr>
            </a:pPr>
            <a:r>
              <a:t>1   Udfør gestus</a:t>
            </a:r>
          </a:p>
          <a:p>
            <a:pPr algn="l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tap1 · tap2 · tap3 · shake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523744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880360"/>
            <a:ext cx="4800600" cy="1170432"/>
          </a:xfrm>
          <a:prstGeom prst="roundRect">
            <a:avLst/>
          </a:prstGeom>
          <a:solidFill>
            <a:srgbClr val="EFE9FE"/>
          </a:solidFill>
          <a:ln w="215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l">
              <a:defRPr sz="2000" b="1">
                <a:solidFill>
                  <a:srgbClr val="091F3F"/>
                </a:solidFill>
                <a:latin typeface="Aptos Display"/>
              </a:defRPr>
            </a:pPr>
            <a:r>
              <a:t>2   Lokal klassifikation</a:t>
            </a:r>
          </a:p>
          <a:p>
            <a:pPr algn="l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features → scaler → MLP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014215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4370831"/>
            <a:ext cx="4800600" cy="1170432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l">
              <a:defRPr sz="2000" b="1">
                <a:solidFill>
                  <a:srgbClr val="091F3F"/>
                </a:solidFill>
                <a:latin typeface="Aptos Display"/>
              </a:defRPr>
            </a:pPr>
            <a:r>
              <a:t>3   Observerbart output</a:t>
            </a:r>
          </a:p>
          <a:p>
            <a:pPr algn="l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EVENT + RGB-feedback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58064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C6C82"/>
                </a:solidFill>
                <a:latin typeface="Aptos"/>
              </a:defRPr>
            </a:pPr>
            <a:r>
              <a:t>Demoen viser produktet først — derefter følger forklaringen dataene fra sensoren.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Gestus  →  lokal klassifikation  →  EVENT + RGB</a:t>
            </a:r>
          </a:p>
        </p:txBody>
      </p:sp>
    </p:spTree>
    <p:extLst>
      <p:ext uri="{BB962C8B-B14F-4D97-AF65-F5344CB8AC3E}">
        <p14:creationId xmlns:p14="http://schemas.microsoft.com/office/powerpoint/2010/main" val="1680847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rdware-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Hardware  →  I2C  →  rå X/Y/Z-data</a:t>
            </a:r>
          </a:p>
        </p:txBody>
      </p:sp>
    </p:spTree>
    <p:extLst>
      <p:ext uri="{BB962C8B-B14F-4D97-AF65-F5344CB8AC3E}">
        <p14:creationId xmlns:p14="http://schemas.microsoft.com/office/powerpoint/2010/main" val="283902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ystem-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Følg dataflowet fra venstre mod højre</a:t>
            </a:r>
          </a:p>
        </p:txBody>
      </p:sp>
    </p:spTree>
    <p:extLst>
      <p:ext uri="{BB962C8B-B14F-4D97-AF65-F5344CB8AC3E}">
        <p14:creationId xmlns:p14="http://schemas.microsoft.com/office/powerpoint/2010/main" val="130572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-acquisitio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Baseline og støj  →  400 Hz  →  1.600 samples  →  kvalitet</a:t>
            </a:r>
          </a:p>
        </p:txBody>
      </p:sp>
    </p:spTree>
    <p:extLst>
      <p:ext uri="{BB962C8B-B14F-4D97-AF65-F5344CB8AC3E}">
        <p14:creationId xmlns:p14="http://schemas.microsoft.com/office/powerpoint/2010/main" val="414147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ality-control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Godkend eller afvis  →  bedre labels  →  risiko for for rene data</a:t>
            </a:r>
          </a:p>
        </p:txBody>
      </p:sp>
    </p:spTree>
    <p:extLst>
      <p:ext uri="{BB962C8B-B14F-4D97-AF65-F5344CB8AC3E}">
        <p14:creationId xmlns:p14="http://schemas.microsoft.com/office/powerpoint/2010/main" val="33228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eature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Mean removal + magnitude  →  4 × 7  →  28 features</a:t>
            </a:r>
          </a:p>
        </p:txBody>
      </p:sp>
    </p:spTree>
    <p:extLst>
      <p:ext uri="{BB962C8B-B14F-4D97-AF65-F5344CB8AC3E}">
        <p14:creationId xmlns:p14="http://schemas.microsoft.com/office/powerpoint/2010/main" val="185056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lp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Skalering  →  neuroner  →  ReLU  →  softmax</a:t>
            </a:r>
          </a:p>
        </p:txBody>
      </p:sp>
    </p:spTree>
    <p:extLst>
      <p:ext uri="{BB962C8B-B14F-4D97-AF65-F5344CB8AC3E}">
        <p14:creationId xmlns:p14="http://schemas.microsoft.com/office/powerpoint/2010/main" val="39085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taset-split-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493008"/>
            <a:ext cx="562356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3547872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91F3F"/>
                </a:solidFill>
                <a:latin typeface="Aptos"/>
              </a:defRPr>
            </a:pPr>
            <a:r>
              <a:t>5 testrunder med skiftende testgruppe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822191"/>
            <a:ext cx="5257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C6C82"/>
                </a:solidFill>
                <a:latin typeface="Aptos"/>
              </a:defRPr>
            </a:pPr>
            <a:r>
              <a:t>Teknisk: stratificeret 5-fold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20 train + 5 test  →  seed 42  →  gentag 5 gange  →  76 %</a:t>
            </a:r>
          </a:p>
        </p:txBody>
      </p:sp>
    </p:spTree>
    <p:extLst>
      <p:ext uri="{BB962C8B-B14F-4D97-AF65-F5344CB8AC3E}">
        <p14:creationId xmlns:p14="http://schemas.microsoft.com/office/powerpoint/2010/main" val="18832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ployment-decis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Offline træning  →  C++ forward-pass  →  stabil handling</a:t>
            </a:r>
          </a:p>
        </p:txBody>
      </p:sp>
    </p:spTree>
    <p:extLst>
      <p:ext uri="{BB962C8B-B14F-4D97-AF65-F5344CB8AC3E}">
        <p14:creationId xmlns:p14="http://schemas.microsoft.com/office/powerpoint/2010/main" val="274796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Resultater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Rapportens dokumenterede 25-optagelses-snapshot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325880"/>
            <a:ext cx="2029968" cy="1572768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2700" b="1">
                <a:solidFill>
                  <a:srgbClr val="091F3F"/>
                </a:solidFill>
                <a:latin typeface="Aptos Display"/>
              </a:defRPr>
            </a:pPr>
            <a:r>
              <a:t>80 %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holdout accuracy</a:t>
            </a:r>
            <a:br/>
            <a:r>
              <a:t>4 af 5 korrekte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325880"/>
            <a:ext cx="2029968" cy="1572768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2700" b="1">
                <a:solidFill>
                  <a:srgbClr val="091F3F"/>
                </a:solidFill>
                <a:latin typeface="Aptos Display"/>
              </a:defRPr>
            </a:pPr>
            <a:r>
              <a:t>76 %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5-fold CV</a:t>
            </a:r>
            <a:br/>
            <a:r>
              <a:t>19 af 25 korrekte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" y="3246120"/>
            <a:ext cx="2029968" cy="1572768"/>
          </a:xfrm>
          <a:prstGeom prst="roundRect">
            <a:avLst/>
          </a:prstGeom>
          <a:solidFill>
            <a:srgbClr val="EFE9FE"/>
          </a:solidFill>
          <a:ln w="215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2700" b="1">
                <a:solidFill>
                  <a:srgbClr val="091F3F"/>
                </a:solidFill>
                <a:latin typeface="Aptos Display"/>
              </a:defRPr>
            </a:pPr>
            <a:r>
              <a:t>345 µs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gennemsnitlig</a:t>
            </a:r>
            <a:br/>
            <a:r>
              <a:t>modelinferens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3246120"/>
            <a:ext cx="2029968" cy="1572768"/>
          </a:xfrm>
          <a:prstGeom prst="roundRect">
            <a:avLst/>
          </a:prstGeom>
          <a:solidFill>
            <a:srgbClr val="FFF4D8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2700" b="1">
                <a:solidFill>
                  <a:srgbClr val="091F3F"/>
                </a:solidFill>
                <a:latin typeface="Aptos Display"/>
              </a:defRPr>
            </a:pPr>
            <a:r>
              <a:t>0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registrerede</a:t>
            </a:r>
            <a:br/>
            <a:r>
              <a:t>sensor-read-fejl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85232"/>
            <a:ext cx="423367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F3049"/>
                </a:solidFill>
                <a:latin typeface="Aptos"/>
              </a:defRPr>
            </a:pPr>
            <a:r>
              <a:t>Macro precision 70,0 %  ·  recall 80,0 %  ·  F1 73,3 %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42432"/>
            <a:ext cx="4233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ptos"/>
              </a:defRPr>
            </a:pPr>
            <a:r>
              <a:t>Én fejl i fem testeksempler ændrer accuracy med 20 procentpoint.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170432"/>
            <a:ext cx="6473952" cy="501091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432" y="1298448"/>
            <a:ext cx="5597790" cy="473659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Resultat  →  fortolkning  →  lille testset  →  begrænsning</a:t>
            </a:r>
          </a:p>
        </p:txBody>
      </p:sp>
    </p:spTree>
    <p:extLst>
      <p:ext uri="{BB962C8B-B14F-4D97-AF65-F5344CB8AC3E}">
        <p14:creationId xmlns:p14="http://schemas.microsoft.com/office/powerpoint/2010/main" val="390626664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Aktuel datastatus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Resultater: videre arbejde holdes tydeligt adskilt fra rapportens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4251960" cy="2880360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2500" b="1">
                <a:solidFill>
                  <a:srgbClr val="091F3F"/>
                </a:solidFill>
                <a:latin typeface="Aptos Display"/>
              </a:defRPr>
            </a:pPr>
            <a:r>
              <a:t>Rapportens snapshot · 25</a:t>
            </a:r>
          </a:p>
          <a:p>
            <a:pPr algn="ctr">
              <a:spcBef>
                <a:spcPts val="700"/>
              </a:spcBef>
              <a:defRPr sz="1700">
                <a:solidFill>
                  <a:srgbClr val="1F3049"/>
                </a:solidFill>
                <a:latin typeface="Aptos"/>
              </a:defRPr>
            </a:pPr>
            <a:r>
              <a:t>5 optagelser per klasse</a:t>
            </a:r>
            <a:br/>
            <a:r>
              <a:t>Balanceret og deployeret</a:t>
            </a:r>
            <a:br/>
            <a:r>
              <a:t>Grundlag for de rapporterede metrics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74920" y="2514600"/>
            <a:ext cx="960120" cy="50292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6208" y="1353312"/>
            <a:ext cx="5285232" cy="2880360"/>
          </a:xfrm>
          <a:prstGeom prst="roundRect">
            <a:avLst/>
          </a:prstGeom>
          <a:solidFill>
            <a:srgbClr val="EFE9FE"/>
          </a:solidFill>
          <a:ln w="215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2500" b="1">
                <a:solidFill>
                  <a:srgbClr val="091F3F"/>
                </a:solidFill>
                <a:latin typeface="Aptos Display"/>
              </a:defRPr>
            </a:pPr>
            <a:r>
              <a:t>Aktuel kandidatpulje · 49</a:t>
            </a:r>
          </a:p>
          <a:p>
            <a:pPr algn="ctr">
              <a:spcBef>
                <a:spcPts val="700"/>
              </a:spcBef>
              <a:defRPr sz="1700">
                <a:solidFill>
                  <a:srgbClr val="1F3049"/>
                </a:solidFill>
                <a:latin typeface="Aptos"/>
              </a:defRPr>
            </a:pPr>
            <a:r>
              <a:t>idle 5 · tap1 5 · tap2 14</a:t>
            </a:r>
            <a:br/>
            <a:r>
              <a:t>tap3 20 · shake 5</a:t>
            </a:r>
            <a:br/>
            <a:r>
              <a:t>Kontraktkompatibel, men ikke balanceret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91F3F"/>
                </a:solidFill>
                <a:latin typeface="Aptos"/>
              </a:defRPr>
            </a:pPr>
            <a:r>
              <a:t>Næste kontrollerede iteration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138928"/>
            <a:ext cx="2496312" cy="85039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1  Indsaml manglende klasser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0400" y="5385816"/>
            <a:ext cx="310896" cy="256032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47872" y="5138928"/>
            <a:ext cx="2496312" cy="85039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2  Kurater og balancér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71616" y="5385816"/>
            <a:ext cx="310896" cy="256032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9088" y="5138928"/>
            <a:ext cx="2496312" cy="85039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3  Retræn modellen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942832" y="5385816"/>
            <a:ext cx="310896" cy="256032"/>
          </a:xfrm>
          <a:prstGeom prst="rightArrow">
            <a:avLst/>
          </a:prstGeom>
          <a:solidFill>
            <a:srgbClr val="5C6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90304" y="5138928"/>
            <a:ext cx="2496312" cy="85039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4  Ny blind evaluering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99632"/>
            <a:ext cx="10835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91F3F"/>
                </a:solidFill>
                <a:latin typeface="Aptos"/>
              </a:defRPr>
            </a:pPr>
            <a:r>
              <a:t>Konklusion: fungerende end-to-end-prototype · begrænset evidens for generalisering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25 snapshot  →  49 kandidater  →  balancér  →  retræn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Fra antagelse til målt orientering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Start: Y op/ned  →  faktisk: Y venstre/højre · X frem/tilbage · Z op/ned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33856"/>
            <a:ext cx="7589520" cy="513892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dxl343-axis-ori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3494"/>
            <a:ext cx="7315200" cy="40515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650992"/>
            <a:ext cx="70957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91F3F"/>
                </a:solidFill>
                <a:latin typeface="Aptos"/>
              </a:defRPr>
            </a:pPr>
            <a:r>
              <a:t>Datastrømmen var hele tiden X, Y, Z — jeg rettede den fysiske fortolkning.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21615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91F3F"/>
                </a:solidFill>
                <a:latin typeface="Aptos"/>
              </a:defRPr>
            </a:pPr>
            <a:r>
              <a:t>Hvad lærte jeg?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737360"/>
            <a:ext cx="3291840" cy="1078992"/>
          </a:xfrm>
          <a:prstGeom prst="roundRect">
            <a:avLst/>
          </a:prstGeom>
          <a:solidFill>
            <a:srgbClr val="FFF4D8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1 · ANTAGELSE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Y var op/ned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798063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3172968"/>
            <a:ext cx="3291840" cy="1078992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2 · MÅLING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Z-RMS ≈ 2 × Y-RMS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4233672"/>
            <a:ext cx="6400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608576"/>
            <a:ext cx="3291840" cy="1078992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600" b="1">
                <a:solidFill>
                  <a:srgbClr val="091F3F"/>
                </a:solidFill>
                <a:latin typeface="Aptos Display"/>
              </a:defRPr>
            </a:pPr>
            <a:r>
              <a:t>3 · DESIGN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X + Y + Z + magnitude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Antagelse: Y op/ned  →  faktisk: Y venstre/højre · X frem/tilbage · Z op/ned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Kodefokus · Fra vindue til 28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Product/ml/train.py · samme featureorden skal bruges i Python og C++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601968" cy="43434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453895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39" y="1453895"/>
            <a:ext cx="91440" cy="91440"/>
          </a:xfrm>
          <a:prstGeom prst="ellipse">
            <a:avLst/>
          </a:prstGeom>
          <a:solidFill>
            <a:srgbClr val="E0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1" y="1453895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389888"/>
            <a:ext cx="56418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train.py  ·  extract_features_for_window()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700784"/>
            <a:ext cx="6309359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47088"/>
            <a:ext cx="6089904" cy="3648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200" b="0">
                <a:solidFill>
                  <a:srgbClr val="E2E8F0"/>
                </a:solidFill>
                <a:latin typeface="Consolas"/>
              </a:defRPr>
            </a:pPr>
            <a:r>
              <a:t># Vælg de fire signal-kanaler</a:t>
            </a:r>
            <a:br/>
            <a:r>
              <a:t>channels = ["ax", "ay", "az"]</a:t>
            </a:r>
            <a:br/>
            <a:r>
              <a:t>if use_mag:</a:t>
            </a:r>
            <a:br/>
            <a:r>
              <a:t>    channels = channels + ["mag"]</a:t>
            </a:r>
            <a:br/>
            <a:br/>
            <a:r>
              <a:t>feats = []</a:t>
            </a:r>
            <a:br/>
            <a:r>
              <a:t>for c in channels:</a:t>
            </a:r>
            <a:br/>
            <a:r>
              <a:t>    x = window_df[c].to_numpy(dtype=np.float32)</a:t>
            </a:r>
            <a:br/>
            <a:r>
              <a:t>    # Fjern kanalens statiske offset</a:t>
            </a:r>
            <a:br/>
            <a:r>
              <a:t>    x = x - np.mean(x)</a:t>
            </a:r>
            <a:br/>
            <a:r>
              <a:t>    # Tilføj syv tal til featurevektoren</a:t>
            </a:r>
            <a:br/>
            <a:r>
              <a:t>    feats.extend(channel_features(x))</a:t>
            </a:r>
            <a:br/>
            <a:br/>
            <a:r>
              <a:t># channel_features returnerer:</a:t>
            </a:r>
            <a:br/>
            <a:r>
              <a:t>[std, mn, mx, rng, energy,</a:t>
            </a:r>
            <a:br/>
            <a:r>
              <a:t> peaks, max_abs_diff]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715000"/>
            <a:ext cx="6309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5C6C82"/>
                </a:solidFill>
                <a:latin typeface="Aptos"/>
              </a:defRPr>
            </a:pPr>
            <a:r>
              <a:t>Faktisk princip · forkortet uden at ændre rækkefølgen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389888"/>
            <a:ext cx="3794760" cy="1143000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700" b="1">
                <a:solidFill>
                  <a:srgbClr val="091F3F"/>
                </a:solidFill>
                <a:latin typeface="Aptos Display"/>
              </a:defRPr>
            </a:pPr>
            <a:r>
              <a:t>INPUT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1.600 samples</a:t>
            </a:r>
            <a:br/>
            <a:r>
              <a:t>X, Y, Z + magnitude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2505456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871216"/>
            <a:ext cx="3794760" cy="1143000"/>
          </a:xfrm>
          <a:prstGeom prst="roundRect">
            <a:avLst/>
          </a:prstGeom>
          <a:solidFill>
            <a:srgbClr val="FFF4D8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700" b="1">
                <a:solidFill>
                  <a:srgbClr val="091F3F"/>
                </a:solidFill>
                <a:latin typeface="Aptos Display"/>
              </a:defRPr>
            </a:pPr>
            <a:r>
              <a:t>BEHANDLING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mean removal</a:t>
            </a:r>
            <a:br/>
            <a:r>
              <a:t>7 statistikker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398678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4352544"/>
            <a:ext cx="3794760" cy="1143000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700" b="1">
                <a:solidFill>
                  <a:srgbClr val="091F3F"/>
                </a:solidFill>
                <a:latin typeface="Aptos Display"/>
              </a:defRPr>
            </a:pPr>
            <a:r>
              <a:t>OUTPUT</a:t>
            </a:r>
          </a:p>
          <a:p>
            <a:pPr algn="ctr">
              <a:spcBef>
                <a:spcPts val="700"/>
              </a:spcBef>
              <a:defRPr sz="1400">
                <a:solidFill>
                  <a:srgbClr val="1F3049"/>
                </a:solidFill>
                <a:latin typeface="Aptos"/>
              </a:defRPr>
            </a:pPr>
            <a:r>
              <a:t>4 × 7</a:t>
            </a:r>
            <a:br/>
            <a:r>
              <a:t>= 28 modelinputs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5879592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C2626"/>
                </a:solidFill>
                <a:latin typeface="Aptos"/>
              </a:defRPr>
            </a:pPr>
            <a:r>
              <a:t>KODEKONTRAKT · ændret featureorden = forkert input til de lærte vægte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Kode: 4 kanaler  →  mean removal  →  7 features  →  28 inputs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Kodefokus · Split, skalering og træning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Product/ml/train.py · de centrale linjer der beskytter evalueringen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656832" cy="44988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453895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39" y="1453895"/>
            <a:ext cx="91440" cy="91440"/>
          </a:xfrm>
          <a:prstGeom prst="ellipse">
            <a:avLst/>
          </a:prstGeom>
          <a:solidFill>
            <a:srgbClr val="E0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1" y="1453895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389888"/>
            <a:ext cx="569671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train.py  ·  main()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700784"/>
            <a:ext cx="6364224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47088"/>
            <a:ext cx="6144768" cy="38039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100" b="0">
                <a:solidFill>
                  <a:srgbClr val="E2E8F0"/>
                </a:solidFill>
                <a:latin typeface="Consolas"/>
              </a:defRPr>
            </a:pPr>
            <a:r>
              <a:t># Del data: 80 % træning og 20 % test</a:t>
            </a:r>
            <a:br/>
            <a:r>
              <a:t>X_train, X_test, y_train, y_test = train_test_split(</a:t>
            </a:r>
            <a:br/>
            <a:r>
              <a:t>    X, y_enc,</a:t>
            </a:r>
            <a:br/>
            <a:r>
              <a:t>    test_size=0.2,</a:t>
            </a:r>
            <a:br/>
            <a:r>
              <a:t>    random_state=42,</a:t>
            </a:r>
            <a:br/>
            <a:r>
              <a:t>    stratify=y_enc,</a:t>
            </a:r>
            <a:br/>
            <a:r>
              <a:t>)</a:t>
            </a:r>
            <a:br/>
            <a:br/>
            <a:r>
              <a:t># Lær skaleringen KUN fra træningsdata</a:t>
            </a:r>
            <a:br/>
            <a:r>
              <a:t>scaler = StandardScaler()</a:t>
            </a:r>
            <a:br/>
            <a:r>
              <a:t>X_train_s = scaler.fit_transform(X_train)</a:t>
            </a:r>
            <a:br/>
            <a:r>
              <a:t>X_test_s  = scaler.transform(X_test)</a:t>
            </a:r>
            <a:br/>
            <a:br/>
            <a:r>
              <a:t># Træn modellen og test på ukendte data</a:t>
            </a:r>
            <a:br/>
            <a:r>
              <a:t>model = train_model(cfg, X_train_s, y_train)</a:t>
            </a:r>
            <a:br/>
            <a:r>
              <a:t>y_pred = model.predict(X_test_s)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833872"/>
            <a:ext cx="6446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C6C82"/>
                </a:solidFill>
                <a:latin typeface="Aptos"/>
              </a:defRPr>
            </a:pPr>
            <a:r>
              <a:t>model.fit(...) inde i train_model() udfører træning og backpropagation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26464"/>
            <a:ext cx="1810512" cy="1499616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STRATIFY</a:t>
            </a:r>
          </a:p>
          <a:p>
            <a:pPr algn="ctr">
              <a:spcBef>
                <a:spcPts val="700"/>
              </a:spcBef>
              <a:defRPr sz="1200">
                <a:solidFill>
                  <a:srgbClr val="1F3049"/>
                </a:solidFill>
                <a:latin typeface="Aptos"/>
              </a:defRPr>
            </a:pPr>
            <a:r>
              <a:t>én testoptagelse</a:t>
            </a:r>
            <a:br/>
            <a:r>
              <a:t>fra hver klasse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28632" y="1426464"/>
            <a:ext cx="1810512" cy="1499616"/>
          </a:xfrm>
          <a:prstGeom prst="roundRect">
            <a:avLst/>
          </a:prstGeom>
          <a:solidFill>
            <a:srgbClr val="EFE9FE"/>
          </a:solidFill>
          <a:ln w="215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SEED 42</a:t>
            </a:r>
          </a:p>
          <a:p>
            <a:pPr algn="ctr">
              <a:spcBef>
                <a:spcPts val="700"/>
              </a:spcBef>
              <a:defRPr sz="1200">
                <a:solidFill>
                  <a:srgbClr val="1F3049"/>
                </a:solidFill>
                <a:latin typeface="Aptos"/>
              </a:defRPr>
            </a:pPr>
            <a:r>
              <a:t>samme split kan</a:t>
            </a:r>
            <a:br/>
            <a:r>
              <a:t>gentages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328416"/>
            <a:ext cx="1810512" cy="1499616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FIT KUN TRAIN</a:t>
            </a:r>
          </a:p>
          <a:p>
            <a:pPr algn="ctr">
              <a:spcBef>
                <a:spcPts val="700"/>
              </a:spcBef>
              <a:defRPr sz="1200">
                <a:solidFill>
                  <a:srgbClr val="1F3049"/>
                </a:solidFill>
                <a:latin typeface="Aptos"/>
              </a:defRPr>
            </a:pPr>
            <a:r>
              <a:t>testdata påvirker ikke</a:t>
            </a:r>
            <a:br/>
            <a:r>
              <a:t>scalerens μ og 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28632" y="3328416"/>
            <a:ext cx="1810512" cy="1499616"/>
          </a:xfrm>
          <a:prstGeom prst="roundRect">
            <a:avLst/>
          </a:prstGeom>
          <a:solidFill>
            <a:srgbClr val="FFF4D8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20 → 5</a:t>
            </a:r>
          </a:p>
          <a:p>
            <a:pPr algn="ctr">
              <a:spcBef>
                <a:spcPts val="700"/>
              </a:spcBef>
              <a:defRPr sz="1200">
                <a:solidFill>
                  <a:srgbClr val="1F3049"/>
                </a:solidFill>
                <a:latin typeface="Aptos"/>
              </a:defRPr>
            </a:pPr>
            <a:r>
              <a:t>træn på 20</a:t>
            </a:r>
            <a:br/>
            <a:r>
              <a:t>test på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5394960"/>
            <a:ext cx="387705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Aptos"/>
              </a:defRPr>
            </a:pPr>
            <a:r>
              <a:t>Ingen leakage: fit_transform(train) · kun transform(test)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Kode: stratify  →  seed 42  →  scaler fit kun på train  →  model.fit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08813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091F3F"/>
                </a:solidFill>
                <a:latin typeface="Aptos"/>
              </a:defRPr>
            </a:pPr>
            <a:r>
              <a:t>Kodefokus · Fra 28 features til en sikker EVENT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32688"/>
            <a:ext cx="960120" cy="54864"/>
          </a:xfrm>
          <a:prstGeom prst="rect">
            <a:avLst/>
          </a:prstGeom>
          <a:solidFill>
            <a:srgbClr val="2F6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795528"/>
            <a:ext cx="9692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C6C82"/>
                </a:solidFill>
                <a:latin typeface="Aptos"/>
              </a:defRPr>
            </a:pPr>
            <a:r>
              <a:t>Product/firmware/src/main.cpp + model_data.cpp · inference er mere end modelkaldet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6510528" cy="4462272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453895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39" y="1453895"/>
            <a:ext cx="91440" cy="91440"/>
          </a:xfrm>
          <a:prstGeom prst="ellipse">
            <a:avLst/>
          </a:prstGeom>
          <a:solidFill>
            <a:srgbClr val="E0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0431" y="1453895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389888"/>
            <a:ext cx="555040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main.cpp  ·  runInference()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700784"/>
            <a:ext cx="621792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847088"/>
            <a:ext cx="5998464" cy="3767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2000"/>
              </a:lnSpc>
              <a:defRPr sz="1100" b="0">
                <a:solidFill>
                  <a:srgbClr val="E2E8F0"/>
                </a:solidFill>
                <a:latin typeface="Consolas"/>
              </a:defRPr>
            </a:pPr>
            <a:r>
              <a:t>// Komprimér sensorvinduet til 28 features</a:t>
            </a:r>
            <a:br/>
            <a:r>
              <a:t>extractFeatures(features);</a:t>
            </a:r>
            <a:br/>
            <a:r>
              <a:t>// Forward-pass giver fem klassescores</a:t>
            </a:r>
            <a:br/>
            <a:r>
              <a:t>tinyml_model::model_infer(</a:t>
            </a:r>
            <a:br/>
            <a:r>
              <a:t>    features, 28, scores, 5);</a:t>
            </a:r>
            <a:br/>
            <a:br/>
            <a:r>
              <a:t>// Find klassen med den højeste score</a:t>
            </a:r>
            <a:br/>
            <a:r>
              <a:t>int bestIdx = 0;</a:t>
            </a:r>
            <a:br/>
            <a:r>
              <a:t>float bestScore = scores[0];</a:t>
            </a:r>
            <a:br/>
            <a:r>
              <a:t>for (size_t i = 1; i &lt; 5; ++i) {</a:t>
            </a:r>
            <a:br/>
            <a:r>
              <a:t>    if (scores[i] &gt; bestScore) {</a:t>
            </a:r>
            <a:br/>
            <a:r>
              <a:t>        bestScore = scores[i];</a:t>
            </a:r>
            <a:br/>
            <a:r>
              <a:t>        bestIdx = (int)i;</a:t>
            </a:r>
            <a:br/>
            <a:r>
              <a:t>    }</a:t>
            </a:r>
            <a:br/>
            <a:r>
              <a:t>}</a:t>
            </a:r>
            <a:br/>
            <a:br/>
            <a:r>
              <a:t>// Kræv sikker og stabil prediction</a:t>
            </a:r>
            <a:br/>
            <a:r>
              <a:t>const int eventClass = updateDecision(</a:t>
            </a:r>
            <a:br/>
            <a:r>
              <a:t>    bestIdx, bestScore, millis());</a:t>
            </a:r>
            <a:br/>
            <a:r>
              <a:t>if (eventClass &gt;= 0) { /* EVENT + RGB */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815584"/>
            <a:ext cx="638251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5C6C82"/>
                </a:solidFill>
                <a:latin typeface="Aptos"/>
              </a:defRPr>
            </a:pPr>
            <a:r>
              <a:t>model_infer(): StandardScaler → vægtede summer → ReLU → softmax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99248" y="1207008"/>
            <a:ext cx="3767328" cy="603504"/>
          </a:xfrm>
          <a:prstGeom prst="roundRect">
            <a:avLst/>
          </a:prstGeom>
          <a:solidFill>
            <a:srgbClr val="FFF4D8"/>
          </a:solidFill>
          <a:ln w="21590">
            <a:solidFill>
              <a:srgbClr val="E0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28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1773936"/>
            <a:ext cx="640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99248" y="2011680"/>
            <a:ext cx="3767328" cy="603504"/>
          </a:xfrm>
          <a:prstGeom prst="roundRect">
            <a:avLst/>
          </a:prstGeom>
          <a:solidFill>
            <a:srgbClr val="EFE9FE"/>
          </a:solidFill>
          <a:ln w="215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scaler +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8" y="2578608"/>
            <a:ext cx="640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2816352"/>
            <a:ext cx="3767328" cy="603504"/>
          </a:xfrm>
          <a:prstGeom prst="roundRect">
            <a:avLst/>
          </a:prstGeom>
          <a:solidFill>
            <a:srgbClr val="E2EEFC"/>
          </a:solidFill>
          <a:ln w="21590">
            <a:solidFill>
              <a:srgbClr val="2F6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5 softmax-scores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3383280"/>
            <a:ext cx="640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9248" y="3621024"/>
            <a:ext cx="3767328" cy="603504"/>
          </a:xfrm>
          <a:prstGeom prst="roundRect">
            <a:avLst/>
          </a:prstGeom>
          <a:solidFill>
            <a:srgbClr val="E4F8EC"/>
          </a:solidFill>
          <a:ln w="2159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score ≥ 0,75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4187952"/>
            <a:ext cx="640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99248" y="4425696"/>
            <a:ext cx="3767328" cy="603504"/>
          </a:xfrm>
          <a:prstGeom prst="roundRect">
            <a:avLst/>
          </a:prstGeom>
          <a:solidFill>
            <a:srgbClr val="FEE8E8"/>
          </a:solidFill>
          <a:ln w="2159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3 ens + 4 s debounce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4992624"/>
            <a:ext cx="640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5C6C8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99248" y="5230368"/>
            <a:ext cx="3767328" cy="603504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091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0584" bIns="73152"/>
          <a:lstStyle/>
          <a:p>
            <a:pPr algn="ctr">
              <a:defRPr sz="1400" b="1">
                <a:solidFill>
                  <a:srgbClr val="091F3F"/>
                </a:solidFill>
                <a:latin typeface="Aptos Display"/>
              </a:defRPr>
            </a:pPr>
            <a:r>
              <a:t>EVENT + RGB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6089904"/>
            <a:ext cx="390448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91F3F"/>
                </a:solidFill>
                <a:latin typeface="Aptos"/>
              </a:defRPr>
            </a:pPr>
            <a:r>
              <a:t>Photon 2: forward-pass med faste vægte · ingen backpropagation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6533388"/>
            <a:ext cx="117317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GUIDE  ·  Kode: features  →  scores  →  threshold  →  stabilitet  → 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Widescreen</PresentationFormat>
  <Paragraphs>27</Paragraphs>
  <Slides>13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Office-tema</vt:lpstr>
      <vt:lpstr>Tiny Machine Learning</vt:lpstr>
      <vt:lpstr>Agenda</vt:lpstr>
      <vt:lpstr>Projekt introduktion</vt:lpstr>
      <vt:lpstr>Demo</vt:lpstr>
      <vt:lpstr>Hardware (ADXL343)</vt:lpstr>
      <vt:lpstr>Samlet pipeline for systemet</vt:lpstr>
      <vt:lpstr>Dataindsamling</vt:lpstr>
      <vt:lpstr>Datasæt og kvalitetskontrol</vt:lpstr>
      <vt:lpstr>Fra tidsserie til 28 features</vt:lpstr>
      <vt:lpstr>Skalering og neural model</vt:lpstr>
      <vt:lpstr>Træning og evaluering</vt:lpstr>
      <vt:lpstr>Deployment på Photon 2</vt:lpstr>
      <vt:lpstr>Resultater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Kjær Klint</dc:creator>
  <cp:lastModifiedBy>Erik Kjær Klint</cp:lastModifiedBy>
  <cp:revision>1</cp:revision>
  <dcterms:created xsi:type="dcterms:W3CDTF">2026-08-16T19:51:19Z</dcterms:created>
  <dcterms:modified xsi:type="dcterms:W3CDTF">2026-08-16T19:51:19Z</dcterms:modified>
</cp:coreProperties>
</file>